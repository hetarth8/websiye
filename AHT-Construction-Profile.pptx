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AHT Construction Pvt. Ltd. — company profile. Highway to Highrise. Established 2001, Vapi / Daman / Silvassa.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1280160" cy="6858000"/>
          </a:xfrm>
          <a:prstGeom prst="rect">
            <a:avLst/>
          </a:prstGeom>
          <a:solidFill>
            <a:srgbClr val="1B1817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B181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685800"/>
            <a:ext cx="731520" cy="629107"/>
          </a:xfrm>
          <a:prstGeom prst="triangle">
            <a:avLst/>
          </a:prstGeom>
          <a:solidFill>
            <a:srgbClr val="F49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802843"/>
            <a:ext cx="0" cy="453542"/>
          </a:xfrm>
          <a:prstGeom prst="line">
            <a:avLst/>
          </a:prstGeom>
          <a:noFill/>
          <a:ln w="25400">
            <a:solidFill>
              <a:srgbClr val="9D0F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7498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</a:t>
            </a:r>
            <a:endParaRPr lang="en-US" sz="62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HIGHRISE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Road, Industrial &amp; Real Estate development across South Gujarat, Daman and Silvassa — since 2001.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7A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VAPI · DAMAN · SILVASSA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BUILDING SOUTH GUJARAT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ago, one road crew in Daman set out to build South Gujarat. Today, AHT Construction leads Road, Industrial and Real Estate development across the private and government sectors — with our own quarries, ready-mix concrete and asphalt plants feeding every job.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super value for our clients, business associates and society — on a continuous basis.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3794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remain a company South Gujarat trusts — built on commitment, care and faith.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4297680" cy="4114800"/>
          </a:xfrm>
          <a:prstGeom prst="rect">
            <a:avLst/>
          </a:prstGeom>
          <a:solidFill>
            <a:srgbClr val="1B1817"/>
          </a:solidFill>
          <a:ln/>
        </p:spPr>
      </p:sp>
      <p:pic>
        <p:nvPicPr>
          <p:cNvPr id="12" name="Image 0" descr="fou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2331720"/>
            <a:ext cx="1554480" cy="1737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H. THAKUR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3268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Chairman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4343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of our clients is an A-Lister. When nationally respected companies place repeat orders with us, that is the trust we have built.”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1,056+</a:t>
            </a:r>
            <a:pPr algn="l" indent="0" marL="0">
              <a:buNone/>
            </a:pPr>
            <a:r>
              <a:rPr lang="en-US" sz="16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86968" y="288036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LAID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77258" y="205740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5858" y="20116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pPr algn="l" indent="0" marL="0">
              <a:buNone/>
            </a:pPr>
            <a:r>
              <a:rPr lang="en-US" sz="16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 sq.ft.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24146" y="288036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BUILT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14437" y="205740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3037" y="20116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pPr algn="l" indent="0" marL="0">
              <a:buNone/>
            </a:pPr>
            <a:r>
              <a:rPr lang="en-US" sz="16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 sq.ft.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61325" y="288036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0332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6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 sq.ft.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86968" y="457200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BUNGALOWS DELIVERED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7258" y="374904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5858" y="370332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524146" y="457200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QUARRIES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14437" y="3749040"/>
            <a:ext cx="0" cy="1097280"/>
          </a:xfrm>
          <a:prstGeom prst="line">
            <a:avLst/>
          </a:prstGeom>
          <a:noFill/>
          <a:ln w="25400">
            <a:solidFill>
              <a:srgbClr val="F1E4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3037" y="370332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buNone/>
            </a:pP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161325" y="4572000"/>
            <a:ext cx="327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DIVISIONS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94960"/>
            <a:ext cx="10911535" cy="822960"/>
          </a:xfrm>
          <a:prstGeom prst="rect">
            <a:avLst/>
          </a:prstGeom>
          <a:solidFill>
            <a:srgbClr val="1B181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 </a:t>
            </a:r>
            <a:pPr indent="0" marL="0">
              <a:buNone/>
            </a:pPr>
            <a:r>
              <a:rPr lang="en-US" sz="1200" spc="100" kern="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43018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 </a:t>
            </a:r>
            <a:pPr indent="0" marL="0">
              <a:buNone/>
            </a:pPr>
            <a:r>
              <a:rPr lang="en-US" sz="1200" spc="100" kern="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80197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 </a:t>
            </a:r>
            <a:pPr indent="0" marL="0">
              <a:buNone/>
            </a:pPr>
            <a:r>
              <a:rPr lang="en-US" sz="1200" spc="100" kern="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EMPLOYEES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DIVISIONS, ONE COMPANY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856232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Development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Highways, bituminous &amp; concrete roads, paver-block work — supplied by our own drum mix plants.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4448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64528" y="1856232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Development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64528" y="214884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buildings and warehouses up to 8 m floor-to-floor, delivered around live production.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27832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Turn-key residential bungalows taken from foundation through to handover.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4448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4528" y="293522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64528" y="3227832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stores, offices, showrooms and mixed-use developments.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01421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Industrial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306824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Panchayats, Municipal Councils and Corporations across the region.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4448" y="4050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5" name="Text 23"/>
          <p:cNvSpPr/>
          <p:nvPr/>
        </p:nvSpPr>
        <p:spPr>
          <a:xfrm>
            <a:off x="6324448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64528" y="401421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&amp; Quarries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4528" y="4306824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Stone, aggregates, sand and road base from three owned quarries.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129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093208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Ready-Mix Concrete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385816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batching plants backed by our own in-house testing laboratory.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arry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817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CAN HOLD A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THE GROUND</a:t>
            </a:r>
            <a:endParaRPr lang="en-US" sz="4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D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quarries, three ready-mix plants and two asphalt drum mix plants. When the aggregate, the concrete and the mix all come from inside the company, a programme stops depending on someone else’s delivery date.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TPH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Kyrie Infra Stone Quarry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472744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Dunetha, Daman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68698" y="397764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9866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TPH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69866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 Shakti Stone Quarry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69866" y="472744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Maroli, Sarigam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97317" y="397764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98485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TPH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298485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 Stone Works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98485" y="472744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Kunta, Daman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40410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cum/hr ×3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41248" y="5760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Ready-Mix Concrete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" y="600760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Naroli · Silvassa · Vapi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68698" y="525780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69866" y="540410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80/100 TPH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69866" y="5760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Asphalt Drum Mix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69866" y="600760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Degam, Valsad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97317" y="525780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98485" y="540410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80/100 TPH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8298485" y="5760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Asphalt Drum Mix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98485" y="6007608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Maroli, Sarigam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&amp; MACHINERY — ALL OWNED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PLANT, CRANES &amp; VEHICLES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181448" cy="914400"/>
        </p:xfrm>
        <a:graphic>
          <a:graphicData uri="http://schemas.openxmlformats.org/drawingml/2006/table">
            <a:tbl>
              <a:tblPr/>
              <a:tblGrid>
                <a:gridCol w="4267048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RMC Plant 30 m³/hr (Schwing Stetter)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Concrete Pump 1800 HP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Tower Crane 18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Tower Lift 115 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Hydraulic Paver Finisher (Apollo)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Paver Finisher (Apollo)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/ Vibratory Road Roller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 Mixer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Excavator 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Backhoe Loader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Tipper / Dumper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Tractor / Pickup / Loader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5 /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70168" y="1783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FORMWORK &amp; SITE EQUIPMENT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0168" y="2148840"/>
          <a:ext cx="5181448" cy="914400"/>
        </p:xfrm>
        <a:graphic>
          <a:graphicData uri="http://schemas.openxmlformats.org/drawingml/2006/table">
            <a:tbl>
              <a:tblPr/>
              <a:tblGrid>
                <a:gridCol w="4267048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Shuttering Plate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 Cup-Locks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Screw Hand Jack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Channel (MT)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Concrete / Needle Vibrators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/ 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Cutting / Bending Machine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Cutting / Testing Lab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MARQUEE 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ACROSS THE REGION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1417320"/>
                <a:gridCol w="1536192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POY, PSF, BELLER &amp; CP Buildings + RCC Road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Bhilosa Industries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₹48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 Facility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Polycab India Ltd.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₹35.5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 of Manufacturing Unit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Sumilon Polyester Ltd.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₹22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Toray Kusumgar Advanced Textile Plant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Toray, Sarigam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₹21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Pre-Clinical Research Organisation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Jai Research Foundation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D-Tax Building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Filatex India Ltd.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Sock Manufacturing Facility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Infiiloom India Pvt. Ltd.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₹4.5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13-Storey Commercial 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Odhav Developers, Vapi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Frontage Park — Retail, Hotel &amp; Multiplex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ARTH Group, Vapi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9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R.K. Desai Group of Colleges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F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R.K. Desai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D0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 further industrial, commercial, institutional and road projects across Vapi, Daman, Silvassa, Sarigam and Valsad.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ROAD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4023360"/>
          </a:xfrm>
          <a:prstGeom prst="rect">
            <a:avLst/>
          </a:prstGeom>
          <a:solidFill>
            <a:srgbClr val="1B181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 Cr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GOVERNMENT ROAD WORKS COMPLETED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five public authorities — Panchayats, Municipal Councils and Corporations. Tender documentation, measurement and billing are routine work for us.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99339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Valsad Jilla Panchayat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304288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Valsad District, Gujarat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80015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 Cr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2679192"/>
            <a:ext cx="7162495" cy="0"/>
          </a:xfrm>
          <a:prstGeom prst="line">
            <a:avLst/>
          </a:prstGeom>
          <a:noFill/>
          <a:ln w="12700">
            <a:solidFill>
              <a:srgbClr val="F1E4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79806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Umargaon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Umargaon, Gujarat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80015" y="2770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 Cr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3483864"/>
            <a:ext cx="7162495" cy="0"/>
          </a:xfrm>
          <a:prstGeom prst="line">
            <a:avLst/>
          </a:prstGeom>
          <a:noFill/>
          <a:ln w="12700">
            <a:solidFill>
              <a:srgbClr val="F1E4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602736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Daman Municipal Council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913632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0015" y="3575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 Cr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89120" y="4288536"/>
            <a:ext cx="7162495" cy="0"/>
          </a:xfrm>
          <a:prstGeom prst="line">
            <a:avLst/>
          </a:prstGeom>
          <a:noFill/>
          <a:ln w="12700">
            <a:solidFill>
              <a:srgbClr val="F1E4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407408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Panchayat, Daman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718304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80015" y="4379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 Cr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89120" y="5093208"/>
            <a:ext cx="7162495" cy="0"/>
          </a:xfrm>
          <a:prstGeom prst="line">
            <a:avLst/>
          </a:prstGeom>
          <a:noFill/>
          <a:ln w="12700">
            <a:solidFill>
              <a:srgbClr val="F1E4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21208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Silvassa Municipal Council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89120" y="5522976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Silvassa, D&amp;NH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80015" y="5184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 Cr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PROFESSIONALS · 300+ ENGINEERS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1B1817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8541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H. Thakur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56946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CHAIRMAN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36544" y="196596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7712" y="218541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Shubham Singh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7712" y="256946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96596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4176" y="218541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Singh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4176" y="256946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 STONE WORKS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29471" y="196596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0639" y="218541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 Singh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0639" y="256946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 SHAKTI STONE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6557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Sanjay Prajapati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84962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HR HEAD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36544" y="324612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7712" y="346557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Hetal Mistry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37712" y="384962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&amp; MAINTENANCE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33008" y="324612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4176" y="346557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Pradeep Desai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34176" y="384962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LIASONING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29471" y="324612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0639" y="346557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Dipti Sharma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0639" y="384962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CHARTERED ACCOUNTANT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74573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Janish Patel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" y="512978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HEAD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36544" y="452628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7712" y="474573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Dilip Gehalot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37712" y="512978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3008" y="4526280"/>
            <a:ext cx="2522144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F1E4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4176" y="474573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Paresh Rana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34176" y="5129784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D0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550469"/>
          </a:xfrm>
          <a:prstGeom prst="triangle">
            <a:avLst/>
          </a:prstGeom>
          <a:solidFill>
            <a:srgbClr val="F4900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742493"/>
            <a:ext cx="0" cy="396850"/>
          </a:xfrm>
          <a:prstGeom prst="line">
            <a:avLst/>
          </a:prstGeom>
          <a:noFill/>
          <a:ln w="25400">
            <a:solidFill>
              <a:srgbClr val="9D0F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TO HIGHRISE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VAPI · HEAD OFFICE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275–277, 2nd Floor, Amidhara Complex,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GIDC Char Rasta, Vapi – 396195, Gujarat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77258" y="411480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77258" y="443484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F-12, Ace Shopping Mall, Plot 1/23,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Katheri, Nani Daman – 396210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14437" y="4114800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SILVASSA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14437" y="443484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Ramji Mandir, Dadra – 396230,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&amp; NH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+91 96385 10000</a:t>
            </a:r>
            <a:pPr indent="0" marL="0">
              <a:buNone/>
            </a:pPr>
            <a:r>
              <a:rPr lang="en-US" sz="130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ajaythakurconstruction@yahoo.in</a:t>
            </a:r>
            <a:pPr indent="0" marL="0">
              <a:buNone/>
            </a:pPr>
            <a:r>
              <a:rPr lang="en-US" sz="1300" dirty="0">
                <a:solidFill>
                  <a:srgbClr val="D8C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www.ahtconstruction.in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(Gujarat) 24AXSPS8572J1ZI  ·  PAN AXSPS8572J  ·  Auditor: Dipti Sharma &amp; 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AHT Construction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AHT Construction — Company Profile</dc:title>
  <dc:subject>PptxGenJS Presentation</dc:subject>
  <dc:creator>AHT Construction Pvt. Ltd.</dc:creator>
  <cp:lastModifiedBy>AHT Construction Pvt. Ltd.</cp:lastModifiedBy>
  <cp:revision>1</cp:revision>
  <dcterms:created xsi:type="dcterms:W3CDTF">2026-08-18T08:00:03Z</dcterms:created>
  <dcterms:modified xsi:type="dcterms:W3CDTF">2026-08-18T08:00:03Z</dcterms:modified>
</cp:coreProperties>
</file>